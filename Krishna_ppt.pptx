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6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GoldTop"/>
          <p:cNvSpPr>
            <a:spLocks noGrp="1"/>
          </p:cNvSpPr>
          <p:nvPr/>
        </p:nvSpPr>
        <p:spPr>
          <a:xfrm>
            <a:off x="0" y="0"/>
            <a:ext cx="9144000" cy="36000"/>
          </a:xfrm>
          <a:prstGeom prst="rect">
            <a:avLst/>
          </a:prstGeom>
          <a:solidFill>
            <a:srgbClr val="FFD700"/>
          </a:solidFill>
          <a:ln>
            <a:noFill/>
          </a:ln>
          <a:effectLst>
            <a:outerShdw blurRad="100000" algn="ctr" rotWithShape="0">
              <a:srgbClr val="FFD700">
                <a:alpha val="9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002" name="GoldBottom"/>
          <p:cNvSpPr>
            <a:spLocks noGrp="1"/>
          </p:cNvSpPr>
          <p:nvPr/>
        </p:nvSpPr>
        <p:spPr>
          <a:xfrm>
            <a:off x="0" y="6415000"/>
            <a:ext cx="9144000" cy="36000"/>
          </a:xfrm>
          <a:prstGeom prst="rect">
            <a:avLst/>
          </a:prstGeom>
          <a:solidFill>
            <a:srgbClr val="FFD700"/>
          </a:solidFill>
          <a:ln>
            <a:noFill/>
          </a:ln>
          <a:effectLst>
            <a:outerShdw blurRad="100000" algn="ctr" rotWithShape="0">
              <a:srgbClr val="FFD700">
                <a:alpha val="9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003" name="AmberStripeTop"/>
          <p:cNvSpPr>
            <a:spLocks noGrp="1"/>
          </p:cNvSpPr>
          <p:nvPr/>
        </p:nvSpPr>
        <p:spPr>
          <a:xfrm>
            <a:off x="0" y="36000"/>
            <a:ext cx="9144000" cy="10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4" name="GoldLeft"/>
          <p:cNvSpPr>
            <a:spLocks noGrp="1"/>
          </p:cNvSpPr>
          <p:nvPr/>
        </p:nvSpPr>
        <p:spPr>
          <a:xfrm>
            <a:off x="0" y="0"/>
            <a:ext cx="18000" cy="6858000"/>
          </a:xfrm>
          <a:prstGeom prst="rect">
            <a:avLst/>
          </a:prstGeom>
          <a:solidFill>
            <a:srgbClr val="FFD700">
              <a:alpha val="7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5" name="GoldRight"/>
          <p:cNvSpPr>
            <a:spLocks noGrp="1"/>
          </p:cNvSpPr>
          <p:nvPr/>
        </p:nvSpPr>
        <p:spPr>
          <a:xfrm>
            <a:off x="9126000" y="0"/>
            <a:ext cx="18000" cy="6858000"/>
          </a:xfrm>
          <a:prstGeom prst="rect">
            <a:avLst/>
          </a:prstGeom>
          <a:solidFill>
            <a:srgbClr val="FFD700">
              <a:alpha val="7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D700"/>
          </a:solidFill>
          <a:latin typeface="Impac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Courier New" panose="020B0604020202020204" pitchFamily="34" charset="0"/>
        <a:buChar char="•"/>
        <a:defRPr sz="3200" kern="1200">
          <a:solidFill>
            <a:srgbClr val="FFD700"/>
          </a:solidFill>
          <a:latin typeface="Courier New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anose="020B0604020202020204" pitchFamily="34" charset="0"/>
        <a:buChar char="–"/>
        <a:defRPr sz="2800" kern="1200">
          <a:solidFill>
            <a:srgbClr val="FFD700"/>
          </a:solidFill>
          <a:latin typeface="Courier New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Courier New" panose="020B0604020202020204" pitchFamily="34" charset="0"/>
        <a:buChar char="•"/>
        <a:defRPr sz="2400" kern="1200">
          <a:solidFill>
            <a:srgbClr val="FFD700"/>
          </a:solidFill>
          <a:latin typeface="Courier New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anose="020B0604020202020204" pitchFamily="34" charset="0"/>
        <a:buChar char="–"/>
        <a:defRPr sz="2000" kern="1200">
          <a:solidFill>
            <a:srgbClr val="FFD700"/>
          </a:solidFill>
          <a:latin typeface="Courier New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Courier New" panose="020B0604020202020204" pitchFamily="34" charset="0"/>
        <a:buChar char="»"/>
        <a:defRPr sz="2000" kern="1200">
          <a:solidFill>
            <a:srgbClr val="FFD700"/>
          </a:solidFill>
          <a:latin typeface="Courier New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anose="020B0604020202020204" pitchFamily="34" charset="0"/>
        <a:buChar char="•"/>
        <a:defRPr sz="2000" kern="1200">
          <a:solidFill>
            <a:srgbClr val="FFD700"/>
          </a:solidFill>
          <a:latin typeface="Courier New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Courier New" panose="020B0604020202020204" pitchFamily="34" charset="0"/>
        <a:buChar char="•"/>
        <a:defRPr sz="2000" kern="1200">
          <a:solidFill>
            <a:srgbClr val="FFD700"/>
          </a:solidFill>
          <a:latin typeface="Courier New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anose="020B0604020202020204" pitchFamily="34" charset="0"/>
        <a:buChar char="•"/>
        <a:defRPr sz="2000" kern="1200">
          <a:solidFill>
            <a:srgbClr val="FFD700"/>
          </a:solidFill>
          <a:latin typeface="Courier New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Courier New" panose="020B0604020202020204" pitchFamily="34" charset="0"/>
        <a:buChar char="•"/>
        <a:defRPr sz="2000" kern="1200">
          <a:solidFill>
            <a:srgbClr val="FFD700"/>
          </a:solidFill>
          <a:latin typeface="Courier New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FFD700"/>
          </a:solidFill>
          <a:latin typeface="Courier New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FFD700"/>
          </a:solidFill>
          <a:latin typeface="Courier New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FFD700"/>
          </a:solidFill>
          <a:latin typeface="Courier New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FFD700"/>
          </a:solidFill>
          <a:latin typeface="Courier New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FFD700"/>
          </a:solidFill>
          <a:latin typeface="Courier New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FFD700"/>
          </a:solidFill>
          <a:latin typeface="Courier New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FFD700"/>
          </a:solidFill>
          <a:latin typeface="Courier New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FFD700"/>
          </a:solidFill>
          <a:latin typeface="Courier New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FFD700"/>
          </a:solidFill>
          <a:latin typeface="Courier New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864" y="0"/>
            <a:ext cx="36576" cy="51435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583680" y="0"/>
            <a:ext cx="18288" cy="5143500"/>
          </a:xfrm>
          <a:prstGeom prst="rect">
            <a:avLst/>
          </a:prstGeom>
          <a:solidFill>
            <a:srgbClr val="F0C040">
              <a:alpha val="15000"/>
            </a:srgbClr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995160" y="0"/>
            <a:ext cx="18288" cy="5143500"/>
          </a:xfrm>
          <a:prstGeom prst="rect">
            <a:avLst/>
          </a:prstGeom>
          <a:solidFill>
            <a:srgbClr val="F0C040">
              <a:alpha val="15000"/>
            </a:srgbClr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406640" y="0"/>
            <a:ext cx="18288" cy="5143500"/>
          </a:xfrm>
          <a:prstGeom prst="rect">
            <a:avLst/>
          </a:prstGeom>
          <a:solidFill>
            <a:srgbClr val="F0C040">
              <a:alpha val="15000"/>
            </a:srgbClr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818120" y="0"/>
            <a:ext cx="18288" cy="5143500"/>
          </a:xfrm>
          <a:prstGeom prst="rect">
            <a:avLst/>
          </a:prstGeom>
          <a:solidFill>
            <a:srgbClr val="F0C040">
              <a:alpha val="15000"/>
            </a:srgbClr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229600" y="0"/>
            <a:ext cx="18288" cy="5143500"/>
          </a:xfrm>
          <a:prstGeom prst="rect">
            <a:avLst/>
          </a:prstGeom>
          <a:solidFill>
            <a:srgbClr val="F0C040">
              <a:alpha val="15000"/>
            </a:srgbClr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641080" y="0"/>
            <a:ext cx="18288" cy="5143500"/>
          </a:xfrm>
          <a:prstGeom prst="rect">
            <a:avLst/>
          </a:prstGeom>
          <a:solidFill>
            <a:srgbClr val="F0C040">
              <a:alpha val="15000"/>
            </a:srgbClr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28600" y="320040"/>
            <a:ext cx="2011680" cy="292608"/>
          </a:xfrm>
          <a:prstGeom prst="rect">
            <a:avLst/>
          </a:prstGeom>
          <a:solidFill>
            <a:srgbClr val="FFD700">
              <a:alpha val="80000"/>
            </a:srgbClr>
          </a:solidFill>
          <a:ln w="12700">
            <a:solidFill>
              <a:srgbClr val="FFD7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28600" y="320040"/>
            <a:ext cx="20116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0C040"/>
                </a:solidFill>
              </a:rPr>
              <a:t>ETHICAL HACKING PROJECT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82880" y="777240"/>
            <a:ext cx="5943600" cy="1828800"/>
          </a:xfrm>
          <a:prstGeom prst="rect">
            <a:avLst/>
          </a:prstGeom>
          <a:noFill/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FFD700"/>
                </a:solidFill>
                <a:latin typeface="Impact" panose="020B0A04020102020204" pitchFamily="34" charset="0"/>
                <a:ea typeface="Courier New" panose="020B0A04020102020204" pitchFamily="34" charset="-122"/>
                <a:cs typeface="Courier New" panose="020B0A04020102020204" pitchFamily="34" charset="-120"/>
              </a:rPr>
              <a:t>INFORMATION</a:t>
            </a:r>
            <a:endParaRPr lang="en-US" sz="45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FFD700"/>
                </a:solidFill>
                <a:latin typeface="Impact" panose="020B0A04020102020204" pitchFamily="34" charset="0"/>
                <a:ea typeface="Courier New" panose="020B0A04020102020204" pitchFamily="34" charset="-122"/>
                <a:cs typeface="Courier New" panose="020B0A04020102020204" pitchFamily="34" charset="-120"/>
              </a:rPr>
              <a:t>GATHERING TOOL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182880" y="2592070"/>
            <a:ext cx="5943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0C040"/>
                </a:solidFill>
                <a:latin typeface="Impact" panose="020F0502020204030204" pitchFamily="34" charset="0"/>
                <a:ea typeface="Courier New" panose="020F0502020204030204" pitchFamily="34" charset="-122"/>
                <a:cs typeface="Courier New" panose="020F0502020204030204" pitchFamily="34" charset="-120"/>
              </a:rPr>
              <a:t>Using Python Ping Script — Ping_project.py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82880" y="3090672"/>
            <a:ext cx="5029200" cy="27432"/>
          </a:xfrm>
          <a:prstGeom prst="rect">
            <a:avLst/>
          </a:prstGeom>
          <a:solidFill>
            <a:srgbClr val="2A2200"/>
          </a:solidFill>
          <a:ln w="12700">
            <a:solidFill>
              <a:srgbClr val="2A2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82880" y="3246120"/>
            <a:ext cx="1097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0C040"/>
                </a:solidFill>
              </a:rPr>
              <a:t>TARGET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325880" y="3246120"/>
            <a:ext cx="1554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860B"/>
                </a:solidFill>
              </a:rPr>
              <a:t>metbrains.com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" y="3648456"/>
            <a:ext cx="1097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0C040"/>
                </a:solidFill>
              </a:rPr>
              <a:t>STUDENT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25880" y="3648456"/>
            <a:ext cx="1554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860B"/>
                </a:solidFill>
              </a:rPr>
              <a:t>Krishna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0" y="3246120"/>
            <a:ext cx="1097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0C040"/>
                </a:solidFill>
              </a:rPr>
              <a:t>GUIDED BY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069080" y="3246120"/>
            <a:ext cx="1554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860B"/>
                </a:solidFill>
              </a:rPr>
              <a:t>Prof. Dimple Chauhan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26080" y="3648456"/>
            <a:ext cx="10972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0C040"/>
                </a:solidFill>
              </a:rPr>
              <a:t>DATE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069080" y="3648456"/>
            <a:ext cx="15544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860B"/>
                </a:solidFill>
              </a:rPr>
              <a:t>April 2026</a:t>
            </a:r>
            <a:endParaRPr lang="en-US" sz="11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6858000" y="1645920"/>
            <a:ext cx="1645920" cy="164592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tx1">
                    <a:lumMod val="10000"/>
                    <a:lumOff val="90000"/>
                  </a:schemeClr>
                </a:solidFill>
              </a:rPr>
              <a:t>For Educational / Ethical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914400"/>
          </a:xfrm>
          <a:prstGeom prst="rect">
            <a:avLst/>
          </a:prstGeom>
          <a:solidFill>
            <a:srgbClr val="080808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64008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C0000"/>
                </a:solidFill>
                <a:latin typeface="Courier New" panose="020B0A04020102020204" pitchFamily="34" charset="0"/>
                <a:ea typeface="Courier New" panose="020B0A04020102020204" pitchFamily="34" charset="-122"/>
                <a:cs typeface="Courier New" panose="020B0A04020102020204" pitchFamily="34" charset="-120"/>
              </a:rPr>
              <a:t>⚠  LEGAL &amp; ETHICAL DISCLAIMER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82880"/>
            <a:ext cx="685800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1188720"/>
            <a:ext cx="2743200" cy="3291840"/>
          </a:xfrm>
          <a:prstGeom prst="rect">
            <a:avLst/>
          </a:prstGeom>
          <a:solidFill>
            <a:srgbClr val="0A0A0A"/>
          </a:solidFill>
          <a:ln w="12700">
            <a:solidFill>
              <a:srgbClr val="FFD7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228600" y="1188720"/>
            <a:ext cx="2743200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137160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" y="2103120"/>
            <a:ext cx="2560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D700"/>
                </a:solidFill>
              </a:rPr>
              <a:t>AUTHORIZED USE ONLY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65760" y="2560320"/>
            <a:ext cx="246888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860B"/>
                </a:solidFill>
              </a:rPr>
              <a:t>Run this only on systems you own or have written permission to test. Scanning without permission is not a grey area — it is illegal.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172968" y="1188720"/>
            <a:ext cx="2743200" cy="3291840"/>
          </a:xfrm>
          <a:prstGeom prst="rect">
            <a:avLst/>
          </a:prstGeom>
          <a:solidFill>
            <a:srgbClr val="0A0A0A"/>
          </a:solidFill>
          <a:ln w="12700">
            <a:solidFill>
              <a:srgbClr val="FFD7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3172968" y="1188720"/>
            <a:ext cx="2743200" cy="640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528" y="137160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64408" y="2103120"/>
            <a:ext cx="2560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D700"/>
                </a:solidFill>
              </a:rPr>
              <a:t>LEGAL RESPONSIBILITY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310128" y="2560320"/>
            <a:ext cx="246888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860B"/>
                </a:solidFill>
              </a:rPr>
              <a:t>If you misuse this, that is on you. The instructor and I are not responsible for what you choose to do with the code.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117336" y="1188720"/>
            <a:ext cx="2743200" cy="3291840"/>
          </a:xfrm>
          <a:prstGeom prst="rect">
            <a:avLst/>
          </a:prstGeom>
          <a:solidFill>
            <a:srgbClr val="0A0A0A"/>
          </a:solidFill>
          <a:ln w="12700">
            <a:solidFill>
              <a:srgbClr val="F0C04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6117336" y="1188720"/>
            <a:ext cx="2743200" cy="6400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8896" y="1371600"/>
            <a:ext cx="640080" cy="6400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08776" y="2103120"/>
            <a:ext cx="2560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0C040"/>
                </a:solidFill>
              </a:rPr>
              <a:t>EDUCATIONAL PURPOSE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254496" y="2560320"/>
            <a:ext cx="246888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860B"/>
                </a:solidFill>
              </a:rPr>
              <a:t>I built this to understand how ping works as a recon tool — nothing more, nothing less.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tx1">
                    <a:lumMod val="10000"/>
                    <a:lumOff val="90000"/>
                  </a:schemeClr>
                </a:solidFill>
              </a:rPr>
              <a:t>Information Gathering Tool  |  Prof. Dimple Chauhan  |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4572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D700"/>
                </a:solidFill>
                <a:latin typeface="Courier New" panose="020B0A04020102020204" pitchFamily="34" charset="0"/>
                <a:ea typeface="Courier New" panose="020B0A04020102020204" pitchFamily="34" charset="-122"/>
                <a:cs typeface="Courier New" panose="020B0A04020102020204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1280160" cy="36576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206240" cy="1143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D7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4864" cy="11430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594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C040"/>
                </a:solidFill>
                <a:latin typeface="Courier New" panose="020B0A04020102020204" pitchFamily="34" charset="0"/>
                <a:ea typeface="Courier New" panose="020B0A04020102020204" pitchFamily="34" charset="-122"/>
                <a:cs typeface="Courier New" panose="020B0A04020102020204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097280"/>
            <a:ext cx="3200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</a:rPr>
              <a:t>Introduction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508760"/>
            <a:ext cx="3200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860B"/>
                </a:solidFill>
              </a:rPr>
              <a:t>What is information gathering &amp; why it matters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2286000"/>
            <a:ext cx="4206240" cy="1143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D7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28600" y="2286000"/>
            <a:ext cx="54864" cy="11430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2423160"/>
            <a:ext cx="594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C040"/>
                </a:solidFill>
                <a:latin typeface="Courier New" panose="020B0A04020102020204" pitchFamily="34" charset="0"/>
                <a:ea typeface="Courier New" panose="020B0A04020102020204" pitchFamily="34" charset="-122"/>
                <a:cs typeface="Courier New" panose="020B0A04020102020204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60120" y="2423160"/>
            <a:ext cx="3200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</a:rPr>
              <a:t>Techniques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834640"/>
            <a:ext cx="3200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860B"/>
                </a:solidFill>
              </a:rPr>
              <a:t>Passive vs Active recon — Ping as a tool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3611880"/>
            <a:ext cx="4206240" cy="1143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D7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28600" y="3611880"/>
            <a:ext cx="54864" cy="11430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65760" y="3749040"/>
            <a:ext cx="594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C040"/>
                </a:solidFill>
                <a:latin typeface="Courier New" panose="020B0A04020102020204" pitchFamily="34" charset="0"/>
                <a:ea typeface="Courier New" panose="020B0A04020102020204" pitchFamily="34" charset="-122"/>
                <a:cs typeface="Courier New" panose="020B0A04020102020204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0120" y="3749040"/>
            <a:ext cx="3200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</a:rPr>
              <a:t>Script Overview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4160520"/>
            <a:ext cx="3200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860B"/>
                </a:solidFill>
              </a:rPr>
              <a:t>Code walkthrough: Ping_project.py modules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92040" y="960120"/>
            <a:ext cx="4206240" cy="1143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D7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92040" y="960120"/>
            <a:ext cx="54864" cy="1143000"/>
          </a:xfrm>
          <a:prstGeom prst="rect">
            <a:avLst/>
          </a:prstGeom>
          <a:solidFill>
            <a:srgbClr val="FFD70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29200" y="1097280"/>
            <a:ext cx="594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700"/>
                </a:solidFill>
                <a:latin typeface="Courier New" panose="020B0A04020102020204" pitchFamily="34" charset="0"/>
                <a:ea typeface="Courier New" panose="020B0A04020102020204" pitchFamily="34" charset="-122"/>
                <a:cs typeface="Courier New" panose="020B0A04020102020204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623560" y="1097280"/>
            <a:ext cx="3200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</a:rPr>
              <a:t>Execution Output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23560" y="1508760"/>
            <a:ext cx="3200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860B"/>
                </a:solidFill>
              </a:rPr>
              <a:t>Live demo targeting metbrains.com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92040" y="2286000"/>
            <a:ext cx="4206240" cy="1143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D7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892040" y="2286000"/>
            <a:ext cx="54864" cy="1143000"/>
          </a:xfrm>
          <a:prstGeom prst="rect">
            <a:avLst/>
          </a:prstGeom>
          <a:solidFill>
            <a:srgbClr val="FFD70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29200" y="2423160"/>
            <a:ext cx="594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700"/>
                </a:solidFill>
                <a:latin typeface="Courier New" panose="020B0A04020102020204" pitchFamily="34" charset="0"/>
                <a:ea typeface="Courier New" panose="020B0A04020102020204" pitchFamily="34" charset="-122"/>
                <a:cs typeface="Courier New" panose="020B0A04020102020204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623560" y="2423160"/>
            <a:ext cx="3200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23560" y="2834640"/>
            <a:ext cx="3200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860B"/>
                </a:solidFill>
              </a:rPr>
              <a:t>Key takeaways and learning outcomes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92040" y="3611880"/>
            <a:ext cx="4206240" cy="11430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D7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892040" y="3611880"/>
            <a:ext cx="54864" cy="1143000"/>
          </a:xfrm>
          <a:prstGeom prst="rect">
            <a:avLst/>
          </a:prstGeom>
          <a:solidFill>
            <a:srgbClr val="FFD70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029200" y="3749040"/>
            <a:ext cx="594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D700"/>
                </a:solidFill>
                <a:latin typeface="Courier New" panose="020B0A04020102020204" pitchFamily="34" charset="0"/>
                <a:ea typeface="Courier New" panose="020B0A04020102020204" pitchFamily="34" charset="-122"/>
                <a:cs typeface="Courier New" panose="020B0A04020102020204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623560" y="3749040"/>
            <a:ext cx="3200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</a:rPr>
              <a:t>References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23560" y="4160520"/>
            <a:ext cx="3200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860B"/>
                </a:solidFill>
              </a:rPr>
              <a:t>Tools, docs, and resources used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tx1">
                    <a:lumMod val="10000"/>
                    <a:lumOff val="90000"/>
                  </a:schemeClr>
                </a:solidFill>
              </a:rPr>
              <a:t>Information Gathering Tool  |  Prof. Dimple Chauhan  |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6400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D700"/>
                </a:solidFill>
                <a:latin typeface="Courier New" panose="020B0A04020102020204" pitchFamily="34" charset="0"/>
                <a:ea typeface="Courier New" panose="020B0A04020102020204" pitchFamily="34" charset="-122"/>
                <a:cs typeface="Courier New" panose="020B0A04020102020204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667512"/>
            <a:ext cx="1645920" cy="365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160520" cy="3977640"/>
          </a:xfrm>
          <a:prstGeom prst="rect">
            <a:avLst/>
          </a:prstGeom>
          <a:solidFill>
            <a:srgbClr val="0A0A0A"/>
          </a:solidFill>
          <a:ln w="12700">
            <a:solidFill>
              <a:srgbClr val="FFD7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FFD700"/>
                </a:solidFill>
              </a:rPr>
              <a:t>What is Information Gathering?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3840480" cy="2560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D700"/>
                </a:solidFill>
              </a:rPr>
              <a:t>▸ </a:t>
            </a:r>
            <a:r>
              <a:rPr lang="en-US" sz="1050" dirty="0">
                <a:solidFill>
                  <a:srgbClr val="B8860B"/>
                </a:solidFill>
              </a:rPr>
              <a:t>Before you touch anything, you need to know what you are dealing with. Information gathering is step one.
</a:t>
            </a:r>
            <a:r>
              <a:rPr lang="en-US" sz="1050" b="1" dirty="0">
                <a:solidFill>
                  <a:srgbClr val="FFD700"/>
                </a:solidFill>
              </a:rPr>
              <a:t>▸ </a:t>
            </a:r>
            <a:r>
              <a:rPr lang="en-US" sz="1050" dirty="0">
                <a:solidFill>
                  <a:srgbClr val="B8860B"/>
                </a:solidFill>
              </a:rPr>
              <a:t>OSINT you collect public info without poking the target directly.
</a:t>
            </a:r>
            <a:r>
              <a:rPr lang="en-US" sz="1050" b="1" dirty="0">
                <a:solidFill>
                  <a:srgbClr val="FFD700"/>
                </a:solidFill>
              </a:rPr>
              <a:t>▸ </a:t>
            </a:r>
            <a:r>
              <a:rPr lang="en-US" sz="1050" dirty="0">
                <a:solidFill>
                  <a:srgbClr val="B8860B"/>
                </a:solidFill>
              </a:rPr>
              <a:t>IP addresses, open ports, OS types anything that tells you what is running and where.
</a:t>
            </a:r>
            <a:r>
              <a:rPr lang="en-US" sz="1050" b="1" dirty="0">
                <a:solidFill>
                  <a:srgbClr val="FFD700"/>
                </a:solidFill>
              </a:rPr>
              <a:t>▸ </a:t>
            </a:r>
            <a:r>
              <a:rPr lang="en-US" sz="1050" dirty="0">
                <a:solidFill>
                  <a:srgbClr val="B8860B"/>
                </a:solidFill>
              </a:rPr>
              <a:t>A simple ping tells you more than people expect latency, TTL, and whether anything is filtering your packets.
</a:t>
            </a:r>
            <a:r>
              <a:rPr lang="en-US" sz="1050" b="1" dirty="0">
                <a:solidFill>
                  <a:srgbClr val="FFD700"/>
                </a:solidFill>
              </a:rPr>
              <a:t>▸ </a:t>
            </a:r>
            <a:r>
              <a:rPr lang="en-US" sz="1050" dirty="0">
                <a:solidFill>
                  <a:srgbClr val="B8860B"/>
                </a:solidFill>
              </a:rPr>
              <a:t>Once you map the surface, you know where to look next.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251960" cy="3977640"/>
          </a:xfrm>
          <a:prstGeom prst="rect">
            <a:avLst/>
          </a:prstGeom>
          <a:solidFill>
            <a:srgbClr val="0A0A0A"/>
          </a:solidFill>
          <a:ln w="12700">
            <a:solidFill>
              <a:srgbClr val="F0C04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00600" y="96012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F0C040"/>
                </a:solidFill>
              </a:rPr>
              <a:t>Why Use Ping for Recon?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1389888"/>
            <a:ext cx="73152" cy="47548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83480" y="1389888"/>
            <a:ext cx="3749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C040"/>
                </a:solidFill>
              </a:rPr>
              <a:t>Built-in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83480" y="1618488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860B"/>
                </a:solidFill>
              </a:rPr>
              <a:t>Available on Windows, Linux, macOS — no install needed.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00600" y="2048256"/>
            <a:ext cx="73152" cy="47548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83480" y="2048256"/>
            <a:ext cx="3749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C040"/>
                </a:solidFill>
              </a:rPr>
              <a:t>IP Discovery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2276856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860B"/>
                </a:solidFill>
              </a:rPr>
              <a:t>Instantly resolves domain → IP address mapping.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00600" y="2706624"/>
            <a:ext cx="73152" cy="47548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983480" y="2706624"/>
            <a:ext cx="3749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C040"/>
                </a:solidFill>
              </a:rPr>
              <a:t>Latency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2935224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860B"/>
                </a:solidFill>
              </a:rPr>
              <a:t>Round-trip time reveals geographic proximity.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3364992"/>
            <a:ext cx="73152" cy="47548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983480" y="3364992"/>
            <a:ext cx="3749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C040"/>
                </a:solidFill>
              </a:rPr>
              <a:t>TTL Fingerprint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3593592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860B"/>
                </a:solidFill>
              </a:rPr>
              <a:t>TTL 64=Linux, 128=Windows, 255=Cisco.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00600" y="4023360"/>
            <a:ext cx="73152" cy="47548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983480" y="4023360"/>
            <a:ext cx="3749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C040"/>
                </a:solidFill>
              </a:rPr>
              <a:t>Packet Loss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4251960"/>
            <a:ext cx="3749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860B"/>
                </a:solidFill>
              </a:rPr>
              <a:t>Reveals firewall rules, rate limiting, or filtering.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tx1">
                    <a:lumMod val="10000"/>
                    <a:lumOff val="90000"/>
                  </a:schemeClr>
                </a:solidFill>
              </a:rPr>
              <a:t>Information Gathering Tool  |  Prof. Dimple Chauhan  |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D700"/>
                </a:solidFill>
                <a:latin typeface="Courier New" panose="020B0A04020102020204" pitchFamily="34" charset="0"/>
                <a:ea typeface="Courier New" panose="020B0A04020102020204" pitchFamily="34" charset="-122"/>
                <a:cs typeface="Courier New" panose="020B0A04020102020204" pitchFamily="34" charset="-120"/>
              </a:rPr>
              <a:t>INFORMATION GATHERING TECHNIQUES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667512"/>
            <a:ext cx="2286000" cy="365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206240" cy="1170432"/>
          </a:xfrm>
          <a:prstGeom prst="rect">
            <a:avLst/>
          </a:prstGeom>
          <a:solidFill>
            <a:srgbClr val="0A0A0A"/>
          </a:solidFill>
          <a:ln w="12700">
            <a:solidFill>
              <a:srgbClr val="FFD7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234440"/>
            <a:ext cx="530352" cy="5303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005840"/>
            <a:ext cx="3200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</a:rPr>
              <a:t>Passive Recon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1560" y="1353312"/>
            <a:ext cx="320040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860B"/>
                </a:solidFill>
              </a:rPr>
              <a:t>WHOIS, DNS Lookup, Google Dorking — no direct contact with target system.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63440" y="914400"/>
            <a:ext cx="4206240" cy="1170432"/>
          </a:xfrm>
          <a:prstGeom prst="rect">
            <a:avLst/>
          </a:prstGeom>
          <a:solidFill>
            <a:srgbClr val="0A0A0A"/>
          </a:solidFill>
          <a:ln w="12700">
            <a:solidFill>
              <a:srgbClr val="F0C04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234440"/>
            <a:ext cx="530352" cy="5303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005840"/>
            <a:ext cx="3200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040"/>
                </a:solidFill>
              </a:rPr>
              <a:t>Active Recon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86400" y="1353312"/>
            <a:ext cx="320040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860B"/>
                </a:solidFill>
              </a:rPr>
              <a:t>Ping, Traceroute, Port Scanning — direct ICMP packets sent to target.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228600" y="2240280"/>
            <a:ext cx="4206240" cy="1170432"/>
          </a:xfrm>
          <a:prstGeom prst="rect">
            <a:avLst/>
          </a:prstGeom>
          <a:solidFill>
            <a:srgbClr val="0A0A0A"/>
          </a:solidFill>
          <a:ln w="12700">
            <a:solidFill>
              <a:srgbClr val="FFD7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2560320"/>
            <a:ext cx="530352" cy="5303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2331720"/>
            <a:ext cx="3200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</a:rPr>
              <a:t>Ping Sweep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51560" y="2679192"/>
            <a:ext cx="320040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860B"/>
                </a:solidFill>
              </a:rPr>
              <a:t>Send ICMP echo requests to a range of IPs to discover live hosts on a network.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663440" y="2240280"/>
            <a:ext cx="4206240" cy="1170432"/>
          </a:xfrm>
          <a:prstGeom prst="rect">
            <a:avLst/>
          </a:prstGeom>
          <a:solidFill>
            <a:srgbClr val="0A0A0A"/>
          </a:solidFill>
          <a:ln w="12700">
            <a:solidFill>
              <a:srgbClr val="FFD7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2560320"/>
            <a:ext cx="530352" cy="5303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86400" y="2331720"/>
            <a:ext cx="3200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</a:rPr>
              <a:t>TTL Analysis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486400" y="2679192"/>
            <a:ext cx="320040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860B"/>
                </a:solidFill>
              </a:rPr>
              <a:t>Analyse TTL values in ping responses to identify the target operating system.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228600" y="3566160"/>
            <a:ext cx="4206240" cy="1170432"/>
          </a:xfrm>
          <a:prstGeom prst="rect">
            <a:avLst/>
          </a:prstGeom>
          <a:solidFill>
            <a:srgbClr val="0A0A0A"/>
          </a:solidFill>
          <a:ln w="12700">
            <a:solidFill>
              <a:srgbClr val="CC00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192" y="3886200"/>
            <a:ext cx="530352" cy="53035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51560" y="3657600"/>
            <a:ext cx="3200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Packet Sizing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1051560" y="4005072"/>
            <a:ext cx="320040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860B"/>
                </a:solidFill>
              </a:rPr>
              <a:t>Use -l/-s flags to test max packet size and detect MTU or firewall filters.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4663440" y="3566160"/>
            <a:ext cx="4206240" cy="1170432"/>
          </a:xfrm>
          <a:prstGeom prst="rect">
            <a:avLst/>
          </a:prstGeom>
          <a:solidFill>
            <a:srgbClr val="0A0A0A"/>
          </a:solidFill>
          <a:ln w="12700">
            <a:solidFill>
              <a:srgbClr val="F0C04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32" y="3886200"/>
            <a:ext cx="530352" cy="53035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486400" y="3657600"/>
            <a:ext cx="3200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040"/>
                </a:solidFill>
              </a:rPr>
              <a:t>DNS Resolution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5486400" y="4005072"/>
            <a:ext cx="320040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B8860B"/>
                </a:solidFill>
              </a:rPr>
              <a:t>socket.gethostbyname() maps domain names to their underlying IP addresses.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tx1">
                    <a:lumMod val="10000"/>
                    <a:lumOff val="90000"/>
                  </a:schemeClr>
                </a:solidFill>
              </a:rPr>
              <a:t>Information Gathering Tool  |  Prof. Dimple Chauhan  |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6400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D700"/>
                </a:solidFill>
                <a:latin typeface="Courier New" panose="020B0A04020102020204" pitchFamily="34" charset="0"/>
                <a:ea typeface="Courier New" panose="020B0A04020102020204" pitchFamily="34" charset="-122"/>
                <a:cs typeface="Courier New" panose="020B0A04020102020204" pitchFamily="34" charset="-120"/>
              </a:rPr>
              <a:t>SCRIPT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667512"/>
            <a:ext cx="1188720" cy="36576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74980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0C040"/>
                </a:solidFill>
              </a:rPr>
              <a:t>Ping_project.py  - Module Breakdown &amp; Argument Reference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8686800" cy="347472"/>
          </a:xfrm>
          <a:prstGeom prst="rect">
            <a:avLst/>
          </a:prstGeom>
          <a:solidFill>
            <a:srgbClr val="F0C040">
              <a:alpha val="85000"/>
            </a:srgbClr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29260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0808"/>
                </a:solidFill>
              </a:rPr>
              <a:t>MODULE / FUNCTION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83280" y="1078992"/>
            <a:ext cx="5394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0808"/>
                </a:solidFill>
              </a:rPr>
              <a:t>DESCRIPTION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426464"/>
            <a:ext cx="8686800" cy="475488"/>
          </a:xfrm>
          <a:prstGeom prst="rect">
            <a:avLst/>
          </a:prstGeom>
          <a:solidFill>
            <a:srgbClr val="080808"/>
          </a:solidFill>
          <a:ln w="6350">
            <a:solidFill>
              <a:srgbClr val="2A2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1426464"/>
            <a:ext cx="2926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display_header()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0" y="1426464"/>
            <a:ext cx="53949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860B"/>
                </a:solidFill>
              </a:rPr>
              <a:t>Prints banner: tool name, purpose, ethical use notice.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901952"/>
            <a:ext cx="8686800" cy="475488"/>
          </a:xfrm>
          <a:prstGeom prst="rect">
            <a:avLst/>
          </a:prstGeom>
          <a:solidFill>
            <a:srgbClr val="0A0A0A"/>
          </a:solidFill>
          <a:ln w="6350">
            <a:solidFill>
              <a:srgbClr val="2A2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0040" y="1901952"/>
            <a:ext cx="2926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fetch_ip(target)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1901952"/>
            <a:ext cx="53949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860B"/>
                </a:solidFill>
              </a:rPr>
              <a:t>Uses socket.gethostbyname() to resolve domain → IP address.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377440"/>
            <a:ext cx="8686800" cy="475488"/>
          </a:xfrm>
          <a:prstGeom prst="rect">
            <a:avLst/>
          </a:prstGeom>
          <a:solidFill>
            <a:srgbClr val="080808"/>
          </a:solidFill>
          <a:ln w="6350">
            <a:solidFill>
              <a:srgbClr val="2A2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0040" y="2377440"/>
            <a:ext cx="2926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list_options()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2377440"/>
            <a:ext cx="53949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860B"/>
                </a:solidFill>
              </a:rPr>
              <a:t>Displays all supported ping arguments with descriptions.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2852928"/>
            <a:ext cx="8686800" cy="475488"/>
          </a:xfrm>
          <a:prstGeom prst="rect">
            <a:avLst/>
          </a:prstGeom>
          <a:solidFill>
            <a:srgbClr val="0A0A0A"/>
          </a:solidFill>
          <a:ln w="6350">
            <a:solidFill>
              <a:srgbClr val="2A2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0040" y="2852928"/>
            <a:ext cx="2926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create_command()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2852928"/>
            <a:ext cx="53949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860B"/>
                </a:solidFill>
              </a:rPr>
              <a:t>Builds OS-aware ping command (Windows/Linux flags).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328416"/>
            <a:ext cx="8686800" cy="475488"/>
          </a:xfrm>
          <a:prstGeom prst="rect">
            <a:avLst/>
          </a:prstGeom>
          <a:solidFill>
            <a:srgbClr val="080808"/>
          </a:solidFill>
          <a:ln w="6350">
            <a:solidFill>
              <a:srgbClr val="2A2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0040" y="3328416"/>
            <a:ext cx="2926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execute_ping(cmd)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3328416"/>
            <a:ext cx="53949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860B"/>
                </a:solidFill>
              </a:rPr>
              <a:t>Runs ping via subprocess.run(), captures stdout/stderr.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803904"/>
            <a:ext cx="8686800" cy="475488"/>
          </a:xfrm>
          <a:prstGeom prst="rect">
            <a:avLst/>
          </a:prstGeom>
          <a:solidFill>
            <a:srgbClr val="0A0A0A"/>
          </a:solidFill>
          <a:ln w="6350">
            <a:solidFill>
              <a:srgbClr val="2A2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0040" y="3803904"/>
            <a:ext cx="2926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generate_report()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3803904"/>
            <a:ext cx="53949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860B"/>
                </a:solidFill>
              </a:rPr>
              <a:t>Saves timestamped .txt report with all run details.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4279392"/>
            <a:ext cx="8686800" cy="475488"/>
          </a:xfrm>
          <a:prstGeom prst="rect">
            <a:avLst/>
          </a:prstGeom>
          <a:solidFill>
            <a:srgbClr val="080808"/>
          </a:solidFill>
          <a:ln w="6350">
            <a:solidFill>
              <a:srgbClr val="2A2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20040" y="4279392"/>
            <a:ext cx="29260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run()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83280" y="4279392"/>
            <a:ext cx="53949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860B"/>
                </a:solidFill>
              </a:rPr>
              <a:t>Main controller: orchestrates all modules end-to-end.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tx1">
                    <a:lumMod val="10000"/>
                    <a:lumOff val="90000"/>
                  </a:schemeClr>
                </a:solidFill>
              </a:rPr>
              <a:t>Information Gathering Tool  |  Prof. Dimple Chauhan  |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D700"/>
                </a:solidFill>
                <a:latin typeface="Courier New" panose="020B0A04020102020204" pitchFamily="34" charset="0"/>
                <a:ea typeface="Courier New" panose="020B0A04020102020204" pitchFamily="34" charset="-122"/>
                <a:cs typeface="Courier New" panose="020B0A04020102020204" pitchFamily="34" charset="-120"/>
              </a:rPr>
              <a:t>PYTHON SCRIPT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663440" y="109728"/>
            <a:ext cx="4206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i="1" dirty="0">
                <a:solidFill>
                  <a:srgbClr val="FFD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Ping_project.py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603504"/>
            <a:ext cx="1097280" cy="365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82880" y="713232"/>
            <a:ext cx="8778240" cy="4160520"/>
          </a:xfrm>
          <a:prstGeom prst="rect">
            <a:avLst/>
          </a:prstGeom>
          <a:solidFill>
            <a:srgbClr val="080808"/>
          </a:solidFill>
          <a:ln w="12700">
            <a:solidFill>
              <a:srgbClr val="2A22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82880" y="713232"/>
            <a:ext cx="411480" cy="4160520"/>
          </a:xfrm>
          <a:prstGeom prst="rect">
            <a:avLst/>
          </a:prstGeom>
          <a:solidFill>
            <a:srgbClr val="080808"/>
          </a:solidFill>
          <a:ln w="12700">
            <a:solidFill>
              <a:srgbClr val="2A2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92024" y="804672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2A22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58368" y="804672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subprocess, socket, platform, datetime, sys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92024" y="958291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2A22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92024" y="1111910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2A22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58368" y="1111910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C0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display_header():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92024" y="1265530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2A22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58368" y="1265530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86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print("=" * 65)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92024" y="1419149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2A22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58368" y="1419149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86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print("  NETWORK PROBE TOOL - USING PING")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92024" y="1572768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2A22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92024" y="1726387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2A22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58368" y="1726387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C0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fetch_ip(target):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92024" y="1880006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2A22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58368" y="1880006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86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ip_addr = socket.gethostbyname(target)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92024" y="2033626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2A22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9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58368" y="2033626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print(f"[INFO] Resolved IP: {ip_addr}")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92024" y="2187245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2A22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58368" y="2187245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86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ip_addr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92024" y="2340864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2A22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11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92024" y="2494483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2A22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58368" y="2494483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C0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create_command(target, option, val):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92024" y="2648102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2A22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58368" y="2648102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86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system_os = platform.system().lower()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92024" y="2801722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2A22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14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58368" y="2801722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mapping = {"count":("-n","-c"), "size":("-l","-s"),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92024" y="2955341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2A22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15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58368" y="2955341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"ttl":("-i","-i"), "timeout":("-w","-W"),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92024" y="3108960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2A22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16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58368" y="3108960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"flood":("-t","-c 50"), "df":("-f","-M do")}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92024" y="3262579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2A22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17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92024" y="3416198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2A22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18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58368" y="3416198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C0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execute_ping(command):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92024" y="3569818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2A22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19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58368" y="3569818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86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result = subprocess.run(command,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92024" y="3723437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2A22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20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58368" y="3723437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86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capture_output=True, text=True, timeout=25)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92024" y="3877056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2A22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21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58368" y="3877056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print(result.stdout)   # live terminal output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92024" y="4030675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2A22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22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92024" y="4184294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2A22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23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58368" y="4184294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__name__ == "__main__":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92024" y="4337914"/>
            <a:ext cx="393192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2A22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24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58368" y="4337914"/>
            <a:ext cx="8138160" cy="15361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86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run()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tx1">
                    <a:lumMod val="10000"/>
                    <a:lumOff val="90000"/>
                  </a:schemeClr>
                </a:solidFill>
              </a:rPr>
              <a:t>Information Gathering Tool  |  Prof. Dimple Chauhan  | 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6400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D700"/>
                </a:solidFill>
                <a:latin typeface="Courier New" panose="020B0A04020102020204" pitchFamily="34" charset="0"/>
                <a:ea typeface="Courier New" panose="020B0A04020102020204" pitchFamily="34" charset="-122"/>
                <a:cs typeface="Courier New" panose="020B0A04020102020204" pitchFamily="34" charset="-120"/>
              </a:rPr>
              <a:t>SCRIPT EXECUTION OUTPUT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0" y="164592"/>
            <a:ext cx="2560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D700"/>
                </a:solidFill>
              </a:rPr>
              <a:t>Real Run on Windows 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2011680" cy="365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82880" y="713232"/>
            <a:ext cx="8778240" cy="3246120"/>
          </a:xfrm>
          <a:prstGeom prst="rect">
            <a:avLst/>
          </a:prstGeom>
          <a:solidFill>
            <a:srgbClr val="080808"/>
          </a:solidFill>
          <a:ln w="12700">
            <a:solidFill>
              <a:srgbClr val="FFD7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182880" y="713232"/>
            <a:ext cx="8778240" cy="292608"/>
          </a:xfrm>
          <a:prstGeom prst="rect">
            <a:avLst/>
          </a:prstGeom>
          <a:solidFill>
            <a:srgbClr val="080808"/>
          </a:solidFill>
          <a:ln w="12700">
            <a:solidFill>
              <a:srgbClr val="2A22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795528"/>
            <a:ext cx="128016" cy="12801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21792" y="795528"/>
            <a:ext cx="128016" cy="12801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77824" y="795528"/>
            <a:ext cx="128016" cy="12801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05840" y="758952"/>
            <a:ext cx="7772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tx1">
                    <a:lumMod val="10000"/>
                    <a:lumOff val="90000"/>
                  </a:schemeClr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PS C:\Users\krishna_sai\Documents\Metbrains project&gt;  python Ping_project.py</a:t>
            </a:r>
            <a:endParaRPr lang="en-US" sz="800" dirty="0">
              <a:solidFill>
                <a:schemeClr val="tx1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0040" y="1069848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FD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============================================================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320040" y="1196035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FD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NETWORK PROBE TOOL - USING PING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320040" y="1322222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chemeClr val="tx1">
                    <a:lumMod val="10000"/>
                    <a:lumOff val="90000"/>
                  </a:schemeClr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(Educational Purpose Only</a:t>
            </a:r>
            <a:r>
              <a:rPr lang="en-US" sz="780" dirty="0">
                <a:solidFill>
                  <a:srgbClr val="2A22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320040" y="1448410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FD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============================================================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320040" y="1574597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320040" y="1700784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0C0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[?] Enter target domain: metbrains.com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320040" y="1826971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FD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[INFO] Domain: metbrains.com  →  Resolved IP: 199.36.158.100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320040" y="1953158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0C0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[?] Choose option: count   [?] Enter value (default=4): 4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320040" y="2079346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FD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[RUNNING] ping -n 4 metbrains.com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320040" y="2205533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320040" y="2331720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886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Pinging metbrains.com [199.36.158.100] with 32 bytes of data: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320040" y="2457907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886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Reply from 199.36.158.100: bytes=32 time=161ms TTL=50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320040" y="2584094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886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Reply from 199.36.158.100: bytes=32 time=159ms TTL=50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320040" y="2710282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886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Reply from 199.36.158.100: bytes=32 time=169ms TTL=50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320040" y="2836469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886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Reply from 199.36.158.100: bytes=32 time=159ms TTL=50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320040" y="2962656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320040" y="3088843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FD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Packets: Sent=4, Received=4, Lost=0 (0% loss) | Min=159ms Max=169ms Avg=162ms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320040" y="3215030"/>
            <a:ext cx="8503920" cy="1234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0C0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[✔] Report saved → report_metbrains_com_184237.txt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182880" y="4041648"/>
            <a:ext cx="2084832" cy="777240"/>
          </a:xfrm>
          <a:prstGeom prst="rect">
            <a:avLst/>
          </a:prstGeom>
          <a:solidFill>
            <a:srgbClr val="0A0A0A"/>
          </a:solidFill>
          <a:ln w="12700">
            <a:solidFill>
              <a:srgbClr val="F0C04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182880" y="4041648"/>
            <a:ext cx="2084832" cy="5486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82880" y="4114800"/>
            <a:ext cx="20848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0C040"/>
                </a:solidFill>
              </a:rPr>
              <a:t>IP ADDRESS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82880" y="4315968"/>
            <a:ext cx="208483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199.36.158.100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395728" y="4041648"/>
            <a:ext cx="2084832" cy="777240"/>
          </a:xfrm>
          <a:prstGeom prst="rect">
            <a:avLst/>
          </a:prstGeom>
          <a:solidFill>
            <a:srgbClr val="0A0A0A"/>
          </a:solidFill>
          <a:ln w="12700">
            <a:solidFill>
              <a:srgbClr val="FFD7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2395728" y="4041648"/>
            <a:ext cx="2084832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395728" y="4114800"/>
            <a:ext cx="20848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D700"/>
                </a:solidFill>
              </a:rPr>
              <a:t>OS FINGERPRINT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395728" y="4315968"/>
            <a:ext cx="208483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Linux / Unix  (TTL=50)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08576" y="4041648"/>
            <a:ext cx="2084832" cy="777240"/>
          </a:xfrm>
          <a:prstGeom prst="rect">
            <a:avLst/>
          </a:prstGeom>
          <a:solidFill>
            <a:srgbClr val="0A0A0A"/>
          </a:solidFill>
          <a:ln w="12700">
            <a:solidFill>
              <a:srgbClr val="FFD7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608576" y="4041648"/>
            <a:ext cx="2084832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608576" y="4114800"/>
            <a:ext cx="20848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D700"/>
                </a:solidFill>
              </a:rPr>
              <a:t>AVG RTT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608576" y="4315968"/>
            <a:ext cx="208483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162 ms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21424" y="4041648"/>
            <a:ext cx="2084832" cy="777240"/>
          </a:xfrm>
          <a:prstGeom prst="rect">
            <a:avLst/>
          </a:prstGeom>
          <a:solidFill>
            <a:srgbClr val="0A0A0A"/>
          </a:solidFill>
          <a:ln w="12700">
            <a:solidFill>
              <a:srgbClr val="FFD7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821424" y="4041648"/>
            <a:ext cx="2084832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821424" y="4114800"/>
            <a:ext cx="20848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D700"/>
                </a:solidFill>
              </a:rPr>
              <a:t>PACKET LOSS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821424" y="4315968"/>
            <a:ext cx="2084832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70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0 %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tx1">
                    <a:lumMod val="10000"/>
                    <a:lumOff val="90000"/>
                  </a:schemeClr>
                </a:solidFill>
              </a:rPr>
              <a:t>Information Gathering Tool  |  Prof. Dimple Chauhan  | 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6400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D700"/>
                </a:solidFill>
                <a:latin typeface="Courier New" panose="020B0A04020102020204" pitchFamily="34" charset="0"/>
                <a:ea typeface="Courier New" panose="020B0A04020102020204" pitchFamily="34" charset="-122"/>
                <a:cs typeface="Courier New" panose="020B0A04020102020204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667512"/>
            <a:ext cx="1005840" cy="365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206240" cy="1691640"/>
          </a:xfrm>
          <a:prstGeom prst="rect">
            <a:avLst/>
          </a:prstGeom>
          <a:solidFill>
            <a:srgbClr val="0A0A0A"/>
          </a:solidFill>
          <a:ln w="12700">
            <a:solidFill>
              <a:srgbClr val="FFD7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420624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515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005840"/>
            <a:ext cx="3246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</a:rPr>
              <a:t>Objective Met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1581912"/>
            <a:ext cx="3840480" cy="8961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860B"/>
                </a:solidFill>
              </a:rPr>
              <a:t>Built a working Python tool that runs ping recon against metbrains.com — it runs, it reports, it saves output.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28600" y="2697480"/>
            <a:ext cx="4206240" cy="1691640"/>
          </a:xfrm>
          <a:prstGeom prst="rect">
            <a:avLst/>
          </a:prstGeom>
          <a:solidFill>
            <a:srgbClr val="0A0A0A"/>
          </a:solidFill>
          <a:ln w="12700">
            <a:solidFill>
              <a:srgbClr val="FFD7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228600" y="2697480"/>
            <a:ext cx="420624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8803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2834640"/>
            <a:ext cx="3246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</a:rPr>
              <a:t>Key Learning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11480" y="3410712"/>
            <a:ext cx="3840480" cy="8961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860B"/>
                </a:solidFill>
              </a:rPr>
              <a:t>A single ping told us the server is Linux (TTL=50), roughly 162ms away, and wide open — no packet loss at all.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663440" y="868680"/>
            <a:ext cx="4206240" cy="1691640"/>
          </a:xfrm>
          <a:prstGeom prst="rect">
            <a:avLst/>
          </a:prstGeom>
          <a:solidFill>
            <a:srgbClr val="0A0A0A"/>
          </a:solidFill>
          <a:ln w="12700">
            <a:solidFill>
              <a:srgbClr val="F0C04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4663440" y="868680"/>
            <a:ext cx="4206240" cy="5486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0515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40680" y="1005840"/>
            <a:ext cx="3246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C040"/>
                </a:solidFill>
              </a:rPr>
              <a:t>Ethical Stance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846320" y="1581912"/>
            <a:ext cx="3840480" cy="8961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860B"/>
                </a:solidFill>
              </a:rPr>
              <a:t>I only ran this against metbrains.com and nothing else. Scanning systems you do not own is illegal — not a grey area.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663440" y="2697480"/>
            <a:ext cx="4206240" cy="1691640"/>
          </a:xfrm>
          <a:prstGeom prst="rect">
            <a:avLst/>
          </a:prstGeom>
          <a:solidFill>
            <a:srgbClr val="0A0A0A"/>
          </a:solidFill>
          <a:ln w="12700">
            <a:solidFill>
              <a:srgbClr val="FFD7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4663440" y="2697480"/>
            <a:ext cx="420624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88036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40680" y="2834640"/>
            <a:ext cx="3246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</a:rPr>
              <a:t>Future Scope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846320" y="3410712"/>
            <a:ext cx="3840480" cy="8961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8860B"/>
                </a:solidFill>
              </a:rPr>
              <a:t>Next step: add traceroute, WHOIS, and port scanning. That turns this into a proper recon toolkit.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228600" y="4462272"/>
            <a:ext cx="8686800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0"/>
          <p:cNvSpPr/>
          <p:nvPr/>
        </p:nvSpPr>
        <p:spPr>
          <a:xfrm>
            <a:off x="228600" y="4462272"/>
            <a:ext cx="86868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C0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Target: metbrains.com  |  IP: 199.36.158.100  |  TTL: 50 (Linux/Unix)  |  Avg RTT: 162ms  |  Packet Loss: 0%  |  Platform: Windows 11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tx1">
                    <a:lumMod val="10000"/>
                    <a:lumOff val="90000"/>
                  </a:schemeClr>
                </a:solidFill>
              </a:rPr>
              <a:t>Information Gathering Tool  |  Prof. Dimple Chauhan  | 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6400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D700"/>
                </a:solidFill>
                <a:latin typeface="Courier New" panose="020B0A04020102020204" pitchFamily="34" charset="0"/>
                <a:ea typeface="Courier New" panose="020B0A04020102020204" pitchFamily="34" charset="-122"/>
                <a:cs typeface="Courier New" panose="020B0A04020102020204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667512"/>
            <a:ext cx="1005840" cy="36576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896112"/>
            <a:ext cx="8686800" cy="548640"/>
          </a:xfrm>
          <a:prstGeom prst="rect">
            <a:avLst/>
          </a:prstGeom>
          <a:solidFill>
            <a:srgbClr val="0A0A0A"/>
          </a:solidFill>
          <a:ln w="6350">
            <a:solidFill>
              <a:srgbClr val="2A22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28600" y="896112"/>
            <a:ext cx="54864" cy="54864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896112"/>
            <a:ext cx="502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C0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[1]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896112"/>
            <a:ext cx="5029200" cy="292608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Python subprocess Documentation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170432"/>
            <a:ext cx="777240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0C0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docs.python.org/3/library/subprocess.html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1554480"/>
            <a:ext cx="8686800" cy="548640"/>
          </a:xfrm>
          <a:prstGeom prst="rect">
            <a:avLst/>
          </a:prstGeom>
          <a:solidFill>
            <a:srgbClr val="0A0A0A"/>
          </a:solidFill>
          <a:ln w="6350">
            <a:solidFill>
              <a:srgbClr val="2A22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28600" y="1554480"/>
            <a:ext cx="54864" cy="54864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1554480"/>
            <a:ext cx="502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C0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[2]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1554480"/>
            <a:ext cx="5029200" cy="292608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Python socket Documentation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1828800"/>
            <a:ext cx="777240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0C0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docs.python.org/3/library/socket.html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212848"/>
            <a:ext cx="8686800" cy="548640"/>
          </a:xfrm>
          <a:prstGeom prst="rect">
            <a:avLst/>
          </a:prstGeom>
          <a:solidFill>
            <a:srgbClr val="0A0A0A"/>
          </a:solidFill>
          <a:ln w="6350">
            <a:solidFill>
              <a:srgbClr val="2A22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28600" y="2212848"/>
            <a:ext cx="54864" cy="54864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65760" y="2212848"/>
            <a:ext cx="502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C0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[3]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212848"/>
            <a:ext cx="5029200" cy="292608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Ping Command Reference - Linux Man Pages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487168"/>
            <a:ext cx="777240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0C0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linux.die.net/man/8/ping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2871216"/>
            <a:ext cx="8686800" cy="548640"/>
          </a:xfrm>
          <a:prstGeom prst="rect">
            <a:avLst/>
          </a:prstGeom>
          <a:solidFill>
            <a:srgbClr val="0A0A0A"/>
          </a:solidFill>
          <a:ln w="6350">
            <a:solidFill>
              <a:srgbClr val="2A22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28600" y="2871216"/>
            <a:ext cx="54864" cy="54864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" y="2871216"/>
            <a:ext cx="502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C0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[4]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2871216"/>
            <a:ext cx="5029200" cy="292608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Ping Command Reference - Microsoft Docs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3145536"/>
            <a:ext cx="777240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0C0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learn.microsoft.com/en-us/windows-server/administration/windows-commands/ping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3529584"/>
            <a:ext cx="8686800" cy="548640"/>
          </a:xfrm>
          <a:prstGeom prst="rect">
            <a:avLst/>
          </a:prstGeom>
          <a:solidFill>
            <a:srgbClr val="0A0A0A"/>
          </a:solidFill>
          <a:ln w="6350">
            <a:solidFill>
              <a:srgbClr val="2A22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28600" y="3529584"/>
            <a:ext cx="54864" cy="54864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65760" y="3529584"/>
            <a:ext cx="502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C0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[5]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" y="3529584"/>
            <a:ext cx="5029200" cy="292608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OWASP Testing Guide - Information Gathering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" y="3803904"/>
            <a:ext cx="777240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0C0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owasp.org/www-project-testing-guide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8600" y="4187952"/>
            <a:ext cx="8686800" cy="548640"/>
          </a:xfrm>
          <a:prstGeom prst="rect">
            <a:avLst/>
          </a:prstGeom>
          <a:solidFill>
            <a:srgbClr val="0A0A0A"/>
          </a:solidFill>
          <a:ln w="6350">
            <a:solidFill>
              <a:srgbClr val="2A220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28600" y="4187952"/>
            <a:ext cx="54864" cy="54864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5760" y="4187952"/>
            <a:ext cx="502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C0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[6]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0120" y="4187952"/>
            <a:ext cx="5029200" cy="292608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D700"/>
                </a:solidFill>
              </a:rPr>
              <a:t>Target Website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0120" y="4462272"/>
            <a:ext cx="777240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0C04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metbrains.com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tx1">
                    <a:lumMod val="10000"/>
                    <a:lumOff val="90000"/>
                  </a:schemeClr>
                </a:solidFill>
              </a:rPr>
              <a:t>Information Gathering Tool  |  Prof. Dimple Chauhan  | 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1440"/>
            <a:ext cx="9144000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" y="676656"/>
            <a:ext cx="9144000" cy="18288"/>
          </a:xfrm>
          <a:prstGeom prst="rect">
            <a:avLst/>
          </a:prstGeom>
          <a:solidFill>
            <a:srgbClr val="F0C040">
              <a:alpha val="10000"/>
            </a:srgbClr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" y="1188720"/>
            <a:ext cx="9144000" cy="18288"/>
          </a:xfrm>
          <a:prstGeom prst="rect">
            <a:avLst/>
          </a:prstGeom>
          <a:solidFill>
            <a:srgbClr val="F0C040">
              <a:alpha val="10000"/>
            </a:srgbClr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3152" y="1783080"/>
            <a:ext cx="9144000" cy="18288"/>
          </a:xfrm>
          <a:prstGeom prst="rect">
            <a:avLst/>
          </a:prstGeom>
          <a:solidFill>
            <a:srgbClr val="F0C040">
              <a:alpha val="10000"/>
            </a:srgbClr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152" y="2377440"/>
            <a:ext cx="9144000" cy="18288"/>
          </a:xfrm>
          <a:prstGeom prst="rect">
            <a:avLst/>
          </a:prstGeom>
          <a:solidFill>
            <a:srgbClr val="F0C040">
              <a:alpha val="10000"/>
            </a:srgbClr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" y="2971800"/>
            <a:ext cx="9144000" cy="18288"/>
          </a:xfrm>
          <a:prstGeom prst="rect">
            <a:avLst/>
          </a:prstGeom>
          <a:solidFill>
            <a:srgbClr val="F0C040">
              <a:alpha val="10000"/>
            </a:srgbClr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3152" y="3566160"/>
            <a:ext cx="9144000" cy="18288"/>
          </a:xfrm>
          <a:prstGeom prst="rect">
            <a:avLst/>
          </a:prstGeom>
          <a:solidFill>
            <a:srgbClr val="F0C040">
              <a:alpha val="10000"/>
            </a:srgbClr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3152" y="4160520"/>
            <a:ext cx="9144000" cy="18288"/>
          </a:xfrm>
          <a:prstGeom prst="rect">
            <a:avLst/>
          </a:prstGeom>
          <a:solidFill>
            <a:srgbClr val="F0C040">
              <a:alpha val="10000"/>
            </a:srgbClr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3152" y="4754880"/>
            <a:ext cx="9144000" cy="18288"/>
          </a:xfrm>
          <a:prstGeom prst="rect">
            <a:avLst/>
          </a:prstGeom>
          <a:solidFill>
            <a:srgbClr val="F0C040">
              <a:alpha val="10000"/>
            </a:srgbClr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82880" y="731520"/>
            <a:ext cx="8686800" cy="1645920"/>
          </a:xfrm>
          <a:prstGeom prst="rect">
            <a:avLst/>
          </a:prstGeom>
          <a:noFill/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D700"/>
                </a:solidFill>
                <a:latin typeface="Courier New" panose="020B0A04020102020204" pitchFamily="34" charset="0"/>
                <a:ea typeface="Courier New" panose="020B0A04020102020204" pitchFamily="34" charset="-122"/>
                <a:cs typeface="Courier New" panose="020B0A04020102020204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182880" y="2501265"/>
            <a:ext cx="8686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0C040"/>
                </a:solidFill>
              </a:rPr>
              <a:t>Python Information Gathering Tool  |  metbrains.com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025" y="4453255"/>
            <a:ext cx="8686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>
                    <a:lumMod val="10000"/>
                    <a:lumOff val="90000"/>
                  </a:schemeClr>
                </a:solidFill>
              </a:rPr>
              <a:t>Guided by: Prof. Dimple Chauhan  |  Student: Krishna Sai Sandeep Komarraju</a:t>
            </a:r>
          </a:p>
        </p:txBody>
      </p:sp>
      <p:sp>
        <p:nvSpPr>
          <p:cNvPr id="18" name="Text 16"/>
          <p:cNvSpPr/>
          <p:nvPr/>
        </p:nvSpPr>
        <p:spPr>
          <a:xfrm>
            <a:off x="182880" y="4754880"/>
            <a:ext cx="8686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tx1">
                    <a:lumMod val="10000"/>
                    <a:lumOff val="90000"/>
                  </a:schemeClr>
                </a:solidFill>
              </a:rPr>
              <a:t>April 2026  |  Ethical Hacking Project  |  For Educational Use Only</a:t>
            </a:r>
          </a:p>
        </p:txBody>
      </p:sp>
      <p:sp>
        <p:nvSpPr>
          <p:cNvPr id="19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tx1">
                    <a:lumMod val="10000"/>
                    <a:lumOff val="90000"/>
                  </a:schemeClr>
                </a:solidFill>
              </a:rPr>
              <a:t>Information Gathering Tool  |  Prof. Dimple Chauhan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ckerGold">
  <a:themeElements>
    <a:clrScheme name="GoldBlack">
      <a:dk1>
        <a:srgbClr val="080808"/>
      </a:dk1>
      <a:lt1>
        <a:srgbClr val="FFD700"/>
      </a:lt1>
      <a:dk2>
        <a:srgbClr val="1A1400"/>
      </a:dk2>
      <a:lt2>
        <a:srgbClr val="B8860B"/>
      </a:lt2>
      <a:accent1>
        <a:srgbClr val="FFD700"/>
      </a:accent1>
      <a:accent2>
        <a:srgbClr val="FFA500"/>
      </a:accent2>
      <a:accent3>
        <a:srgbClr val="B8860B"/>
      </a:accent3>
      <a:accent4>
        <a:srgbClr val="8B6914"/>
      </a:accent4>
      <a:accent5>
        <a:srgbClr val="2A2200"/>
      </a:accent5>
      <a:accent6>
        <a:srgbClr val="F0C040"/>
      </a:accent6>
      <a:hlink>
        <a:srgbClr val="FFD700"/>
      </a:hlink>
      <a:folHlink>
        <a:srgbClr val="B8860B"/>
      </a:folHlink>
    </a:clrScheme>
    <a:fontScheme name="HackerGold">
      <a:majorFont>
        <a:latin typeface="Impact"/>
        <a:ea typeface=""/>
        <a:cs typeface=""/>
      </a:majorFont>
      <a:minorFont>
        <a:latin typeface="Courier New"/>
        <a:ea typeface=""/>
        <a:cs typeface=""/>
      </a:minorFont>
    </a:fontScheme>
    <a:fmtScheme name="GoldBlack">
      <a:fillStyleLst>
        <a:solidFill>
          <a:schemeClr val="phClr"/>
        </a:solidFill>
        <a:solidFill>
          <a:schemeClr val="phClr">
            <a:lumMod val="80000"/>
          </a:schemeClr>
        </a:solidFill>
        <a:solidFill>
          <a:schemeClr val="phClr">
            <a:lumMod val="6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000" algn="ctr" rotWithShape="0">
              <a:srgbClr val="FFD700">
                <a:alpha val="40000"/>
              </a:srgbClr>
            </a:outerShdw>
          </a:effectLst>
        </a:effectStyle>
        <a:effectStyle>
          <a:effectLst>
            <a:outerShdw blurRad="80000" algn="ctr" rotWithShape="0">
              <a:srgbClr val="FFD700">
                <a:alpha val="65000"/>
              </a:srgbClr>
            </a:outerShdw>
          </a:effectLst>
        </a:effectStyle>
      </a:effectStyleLst>
      <a:bgFillStyleLst>
        <a:solidFill>
          <a:srgbClr val="080808"/>
        </a:solidFill>
        <a:solidFill>
          <a:srgbClr val="080808"/>
        </a:solidFill>
        <a:solidFill>
          <a:srgbClr val="080808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1402</Words>
  <Application>Microsoft Office PowerPoint</Application>
  <PresentationFormat>On-screen Show (16:9)</PresentationFormat>
  <Paragraphs>209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Consolas</vt:lpstr>
      <vt:lpstr>Courier New</vt:lpstr>
      <vt:lpstr>Impact</vt:lpstr>
      <vt:lpstr>HackerGold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Gathering Tool — Ping_project.py</dc:title>
  <dc:subject>PptxGenJS Presentation</dc:subject>
  <dc:creator>Koushik</dc:creator>
  <cp:lastModifiedBy>Krishna Sai Sandeep Komarraju</cp:lastModifiedBy>
  <cp:revision>4</cp:revision>
  <dcterms:created xsi:type="dcterms:W3CDTF">2026-04-06T11:02:00Z</dcterms:created>
  <dcterms:modified xsi:type="dcterms:W3CDTF">2026-04-06T12:04:00Z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D3F3781C73DC45F9BF275F632342D3E5_13</vt:lpwstr>
  </property>
  <property fmtid="{D5CDD505-2E9C-101B-9397-08002B2CF9AE}" pid="3" name="KSOProductBuildVer">
    <vt:lpwstr>1033-12.1.0.25830</vt:lpwstr>
  </property>
</Properties>
</file>